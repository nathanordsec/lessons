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4"/>
  </p:sldMasterIdLst>
  <p:notesMasterIdLst>
    <p:notesMasterId r:id="rId14"/>
  </p:notesMasterIdLst>
  <p:sldIdLst>
    <p:sldId id="256" r:id="rId5"/>
    <p:sldId id="258" r:id="rId6"/>
    <p:sldId id="260" r:id="rId7"/>
    <p:sldId id="261" r:id="rId8"/>
    <p:sldId id="263" r:id="rId9"/>
    <p:sldId id="259" r:id="rId10"/>
    <p:sldId id="264" r:id="rId11"/>
    <p:sldId id="265" r:id="rId12"/>
    <p:sldId id="26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B534A4-FC4F-4F59-8F3D-7D4421A895DD}" v="48" dt="2025-12-17T02:57:36.7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3" autoAdjust="0"/>
    <p:restoredTop sz="91816" autoAdjust="0"/>
  </p:normalViewPr>
  <p:slideViewPr>
    <p:cSldViewPr snapToGrid="0">
      <p:cViewPr varScale="1">
        <p:scale>
          <a:sx n="92" d="100"/>
          <a:sy n="92" d="100"/>
        </p:scale>
        <p:origin x="104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6267F7-65C6-450E-898E-71A3202F3ED3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14D0BA-290D-4568-B93F-6B7ADD689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775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57D9D4-687D-55F4-4714-41DD8C735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2"/>
            <a:ext cx="12191998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DDC761C-7331-097B-E9C5-34265734F0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8503" y="1244205"/>
            <a:ext cx="6487761" cy="2497801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algn="l"/>
            <a:r>
              <a:rPr lang="en-US" sz="6600">
                <a:solidFill>
                  <a:schemeClr val="tx1"/>
                </a:solidFill>
              </a:rPr>
              <a:t>Click to edit Master title style</a:t>
            </a:r>
            <a:endParaRPr lang="en-US" sz="66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7F886E-8B5D-14BF-27D1-D68C60A6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67488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5039C37-5900-42CA-CA31-9226EE2FE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8503" y="3803904"/>
            <a:ext cx="6487761" cy="420002"/>
          </a:xfrm>
        </p:spPr>
        <p:txBody>
          <a:bodyPr anchor="ctr">
            <a:normAutofit fontScale="92500" lnSpcReduction="10000"/>
          </a:bodyPr>
          <a:lstStyle>
            <a:lvl1pPr marL="0" indent="0">
              <a:buNone/>
              <a:defRPr/>
            </a:lvl1pPr>
          </a:lstStyle>
          <a:p>
            <a:pPr algn="l"/>
            <a:r>
              <a:rPr lang="en-US" sz="2800"/>
              <a:t>Click to edit Master subtitle style</a:t>
            </a:r>
            <a:endParaRPr lang="en-US" sz="28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8FE61F-36F2-0517-AE5D-3AAA4C964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9329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CA7652C-1A4C-090D-7C91-A11DE2DD6F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5086" y="6611094"/>
            <a:ext cx="2743200" cy="246906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A96A43D7-BD46-4D64-B853-06E96BC1A49D}" type="datetime1">
              <a:rPr lang="en-US" smtClean="0"/>
              <a:t>12/16/2025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692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E1958-1206-4030-9466-719877622C84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86999" y="6429396"/>
            <a:ext cx="946264" cy="351315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367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D8DE927-FEB6-43BC-A363-9FF6B11E4AE8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C49A99A-C1BB-2217-FB13-E2C9CBE5E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2"/>
            <a:ext cx="12191998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AD8FD7-E6BF-0D4B-D06E-654919F4B2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67488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368E19AE-998D-9063-418A-D0AB24BAD5C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4718503" y="3803904"/>
            <a:ext cx="6487761" cy="420002"/>
          </a:xfrm>
        </p:spPr>
        <p:txBody>
          <a:bodyPr anchor="ctr">
            <a:normAutofit fontScale="92500" lnSpcReduction="10000"/>
          </a:bodyPr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pPr algn="l"/>
            <a:r>
              <a:rPr lang="en-US" sz="2800"/>
              <a:t>Click to edit Master subtitle style</a:t>
            </a:r>
            <a:endParaRPr lang="en-US" sz="28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1F48BE-3E77-0E4F-2E35-BEEDF120C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9329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9A3AECED-5DEE-E51F-53F9-DCC9D04D313F}"/>
              </a:ext>
            </a:extLst>
          </p:cNvPr>
          <p:cNvSpPr txBox="1">
            <a:spLocks/>
          </p:cNvSpPr>
          <p:nvPr userDrawn="1"/>
        </p:nvSpPr>
        <p:spPr>
          <a:xfrm>
            <a:off x="9265086" y="6611094"/>
            <a:ext cx="2743200" cy="246906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6A43D7-BD46-4D64-B853-06E96BC1A49D}" type="datetime1">
              <a:rPr lang="en-US" smtClean="0"/>
              <a:pPr/>
              <a:t>12/16/2025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376BD96-5FEC-924D-53D4-A328D514CE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8503" y="1244205"/>
            <a:ext cx="6487761" cy="2497801"/>
          </a:xfrm>
        </p:spPr>
        <p:txBody>
          <a:bodyPr>
            <a:norm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algn="l"/>
            <a:r>
              <a:rPr lang="en-US" sz="6600">
                <a:solidFill>
                  <a:schemeClr val="tx1"/>
                </a:solidFill>
              </a:rPr>
              <a:t>Click to edit Master title style</a:t>
            </a:r>
            <a:endParaRPr lang="en-US" sz="6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88655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>
                <a:solidFill>
                  <a:schemeClr val="tx2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>
                <a:solidFill>
                  <a:schemeClr val="tx2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97E27-EE7E-4B30-9FC9-A58FD26ECEA6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985271" y="6429396"/>
            <a:ext cx="946264" cy="351315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610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>
                <a:solidFill>
                  <a:schemeClr val="tx2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>
                <a:solidFill>
                  <a:schemeClr val="tx2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47CD-A9B2-4445-85F1-4A9FAE528B82}" type="datetime1">
              <a:rPr lang="en-US" smtClean="0"/>
              <a:t>12/16/2025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986110" y="6401776"/>
            <a:ext cx="946264" cy="365125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741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6CFFF-E642-4C28-BE45-DA8128892A22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86999" y="6430952"/>
            <a:ext cx="946264" cy="365125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273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FBB70-4610-49F4-BD10-4C4D98FA8034}" type="datetime1">
              <a:rPr lang="en-US" smtClean="0"/>
              <a:t>12/16/2025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658927" y="6422854"/>
            <a:ext cx="946264" cy="365125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701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  <a:lvl2pPr>
              <a:defRPr sz="2800">
                <a:solidFill>
                  <a:schemeClr val="tx2"/>
                </a:solidFill>
              </a:defRPr>
            </a:lvl2pPr>
            <a:lvl3pPr>
              <a:defRPr sz="2400">
                <a:solidFill>
                  <a:schemeClr val="tx2"/>
                </a:solidFill>
              </a:defRPr>
            </a:lvl3pPr>
            <a:lvl4pPr>
              <a:defRPr sz="2000">
                <a:solidFill>
                  <a:schemeClr val="tx2"/>
                </a:solidFill>
              </a:defRPr>
            </a:lvl4pPr>
            <a:lvl5pPr>
              <a:defRPr sz="20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5020A-0FD2-412E-B2AE-51F46E3D384C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986999" y="6422854"/>
            <a:ext cx="946264" cy="365125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275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3F3C6-A988-422F-BF2E-E6CB0C2EDC59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986999" y="6422854"/>
            <a:ext cx="946264" cy="365125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91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26A5F-EC87-407A-8FD5-E7B7A8193BAE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86999" y="6422854"/>
            <a:ext cx="946264" cy="351315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857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72796D39-DAFC-40B2-AD35-8FA8BBD9C9F1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4542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1A8F8CF-ED82-FB60-D3C5-118C4E661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2"/>
            <a:ext cx="12191998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5320CB-57F5-6D69-4EB6-145D358B2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67488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7D8F58-2058-BA61-4857-5709C26F8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19329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0505C37D-F657-E23D-8627-561390FF85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5086" y="6611094"/>
            <a:ext cx="2743200" cy="246906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A96A43D7-BD46-4D64-B853-06E96BC1A49D}" type="datetime1">
              <a:rPr lang="en-US" smtClean="0"/>
              <a:t>12/16/2025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D551B9E-2AA6-4DEA-922D-39B65B2E22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7487" y="0"/>
            <a:ext cx="7940799" cy="6611093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Thanks!</a:t>
            </a:r>
          </a:p>
        </p:txBody>
      </p:sp>
    </p:spTree>
    <p:extLst>
      <p:ext uri="{BB962C8B-B14F-4D97-AF65-F5344CB8AC3E}">
        <p14:creationId xmlns:p14="http://schemas.microsoft.com/office/powerpoint/2010/main" val="37406590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8ABBCB13-2BB4-4114-90E3-CC4252D22677}" type="datetime1">
              <a:rPr lang="en-US" smtClean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3319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2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-server/security/kerberos/kerberos-authentication-overview" TargetMode="External"/><Relationship Id="rId2" Type="http://schemas.openxmlformats.org/officeDocument/2006/relationships/hyperlink" Target="https://web.mit.edu/Saltzer/www/publications/Kerberosorigin.pdf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jpeg"/><Relationship Id="rId5" Type="http://schemas.openxmlformats.org/officeDocument/2006/relationships/hyperlink" Target="https://web.mit.edu/Kerberos/#what_is" TargetMode="External"/><Relationship Id="rId4" Type="http://schemas.openxmlformats.org/officeDocument/2006/relationships/hyperlink" Target="https://www.geeksforgeeks.org/computer-networks/difference-between-kerberos-and-ntlm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freecodecamp.org/news/how-does-kerberos-work-authentication-protocol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rrotSec/mimikatz" TargetMode="External"/><Relationship Id="rId2" Type="http://schemas.openxmlformats.org/officeDocument/2006/relationships/hyperlink" Target="https://github.com/GhostPack/Rubeus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https://specterops.io/blog/2021/06/17/shadow-credentials-abusing-key-trust-account-mapping-for-account-takeover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utdownRepo/pywhisker" TargetMode="External"/><Relationship Id="rId2" Type="http://schemas.openxmlformats.org/officeDocument/2006/relationships/hyperlink" Target="https://github.com/eladshamir/Whisker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9D17B-18B6-05EE-40BE-3CF5A21420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Kerberos &amp; certificates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BC152C-7746-7860-4C8F-C2D331237F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We have access, now what?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A19568B-3D17-DC41-C77B-2DE3A80479C1}"/>
              </a:ext>
            </a:extLst>
          </p:cNvPr>
          <p:cNvSpPr txBox="1">
            <a:spLocks/>
          </p:cNvSpPr>
          <p:nvPr/>
        </p:nvSpPr>
        <p:spPr>
          <a:xfrm>
            <a:off x="4718502" y="4223906"/>
            <a:ext cx="6487761" cy="4200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None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Nathan Ord</a:t>
            </a:r>
          </a:p>
        </p:txBody>
      </p:sp>
      <p:pic>
        <p:nvPicPr>
          <p:cNvPr id="1028" name="Picture 4" descr="Pin by Pete J Connelly on D&amp;D pictures | Cerberus, Dogs, Rottweiler tattoo">
            <a:extLst>
              <a:ext uri="{FF2B5EF4-FFF2-40B4-BE49-F238E27FC236}">
                <a16:creationId xmlns:a16="http://schemas.microsoft.com/office/drawing/2014/main" id="{6B729104-3CB2-E5B3-EAEF-1C53994D4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534" y="2107169"/>
            <a:ext cx="2326738" cy="2326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7496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28E6B-AFA4-1D58-C1B7-7E0B4E9FA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 anchor="ctr">
            <a:normAutofit/>
          </a:bodyPr>
          <a:lstStyle/>
          <a:p>
            <a:r>
              <a:rPr lang="en-US" dirty="0"/>
              <a:t>Big 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8D5F2-46E5-D517-CE41-4CEA6140F2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>
            <a:normAutofit/>
          </a:bodyPr>
          <a:lstStyle/>
          <a:p>
            <a:r>
              <a:rPr lang="en-US" dirty="0"/>
              <a:t>Initial Access in a Windows environment</a:t>
            </a:r>
          </a:p>
          <a:p>
            <a:r>
              <a:rPr lang="en-US" dirty="0"/>
              <a:t>Lateral movement in a Windows environment</a:t>
            </a:r>
          </a:p>
          <a:p>
            <a:r>
              <a:rPr lang="en-US" dirty="0"/>
              <a:t>Long term persistence w/o C2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122" name="Picture 2" descr="using the org domain forest model">
            <a:extLst>
              <a:ext uri="{FF2B5EF4-FFF2-40B4-BE49-F238E27FC236}">
                <a16:creationId xmlns:a16="http://schemas.microsoft.com/office/drawing/2014/main" id="{8EA66881-A6C9-0D5C-FDAA-AAB7D08EB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63539" y="2528905"/>
            <a:ext cx="4754880" cy="3253678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4D7AF2-8746-51E2-5005-12F905287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5271" y="6429396"/>
            <a:ext cx="946264" cy="35131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FAB73BC-B049-4115-A692-8D63A059BFB8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pic>
        <p:nvPicPr>
          <p:cNvPr id="6" name="Graphic 5" descr="Computer with solid fill">
            <a:extLst>
              <a:ext uri="{FF2B5EF4-FFF2-40B4-BE49-F238E27FC236}">
                <a16:creationId xmlns:a16="http://schemas.microsoft.com/office/drawing/2014/main" id="{44C143AE-5C8C-6884-824B-2180A39EBA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8455" y="2699825"/>
            <a:ext cx="914400" cy="91440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8827423-6836-F2D0-524B-6593FE385CE3}"/>
              </a:ext>
            </a:extLst>
          </p:cNvPr>
          <p:cNvCxnSpPr/>
          <p:nvPr/>
        </p:nvCxnSpPr>
        <p:spPr>
          <a:xfrm>
            <a:off x="7315200" y="3161731"/>
            <a:ext cx="568657" cy="1410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6593915-B1D5-33A7-67F8-E908CA5088A4}"/>
              </a:ext>
            </a:extLst>
          </p:cNvPr>
          <p:cNvSpPr txBox="1"/>
          <p:nvPr/>
        </p:nvSpPr>
        <p:spPr>
          <a:xfrm>
            <a:off x="6302991" y="3446792"/>
            <a:ext cx="12965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Non-Domain Joined Host</a:t>
            </a:r>
          </a:p>
        </p:txBody>
      </p:sp>
    </p:spTree>
    <p:extLst>
      <p:ext uri="{BB962C8B-B14F-4D97-AF65-F5344CB8AC3E}">
        <p14:creationId xmlns:p14="http://schemas.microsoft.com/office/powerpoint/2010/main" val="257041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A0238-39C3-63E5-DE35-B292B890F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 anchor="ctr">
            <a:normAutofit/>
          </a:bodyPr>
          <a:lstStyle/>
          <a:p>
            <a:r>
              <a:rPr lang="en-US" dirty="0"/>
              <a:t>What is Kerberos?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64B15-AC73-A1E9-A00C-A490C8D1E0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6452170" cy="4206240"/>
          </a:xfrm>
        </p:spPr>
        <p:txBody>
          <a:bodyPr>
            <a:normAutofit fontScale="92500" lnSpcReduction="20000"/>
          </a:bodyPr>
          <a:lstStyle/>
          <a:p>
            <a:r>
              <a:rPr lang="en-US" sz="1900" dirty="0"/>
              <a:t>Introduced in 1987/8 </a:t>
            </a:r>
            <a:r>
              <a:rPr lang="en-US" sz="1100" dirty="0"/>
              <a:t>[1]</a:t>
            </a:r>
          </a:p>
          <a:p>
            <a:r>
              <a:rPr lang="en-US" sz="1900" dirty="0"/>
              <a:t>Kerberos is Microsoft’s replacement for NTLM authentication</a:t>
            </a:r>
          </a:p>
          <a:p>
            <a:pPr lvl="1"/>
            <a:r>
              <a:rPr lang="en-US" sz="1900" dirty="0"/>
              <a:t>Used for users and hosts </a:t>
            </a:r>
            <a:r>
              <a:rPr lang="en-US" sz="1100" dirty="0"/>
              <a:t>[2]</a:t>
            </a:r>
          </a:p>
          <a:p>
            <a:r>
              <a:rPr lang="en-US" sz="1900" dirty="0"/>
              <a:t>Uses a ticketing system</a:t>
            </a:r>
          </a:p>
          <a:p>
            <a:r>
              <a:rPr lang="en-US" sz="1900" dirty="0"/>
              <a:t>Better security than NTLM </a:t>
            </a:r>
            <a:r>
              <a:rPr lang="en-US" sz="1100" dirty="0"/>
              <a:t>[3]</a:t>
            </a:r>
          </a:p>
          <a:p>
            <a:r>
              <a:rPr lang="en-US" sz="1900" dirty="0"/>
              <a:t>Single Sign-On</a:t>
            </a:r>
          </a:p>
          <a:p>
            <a:r>
              <a:rPr lang="en-US" sz="1900" dirty="0"/>
              <a:t>Multiple Platforms</a:t>
            </a:r>
          </a:p>
          <a:p>
            <a:endParaRPr lang="en-US" sz="1000" dirty="0"/>
          </a:p>
          <a:p>
            <a:endParaRPr lang="en-US" sz="1000" dirty="0"/>
          </a:p>
          <a:p>
            <a:pPr marL="0" indent="0">
              <a:buNone/>
            </a:pPr>
            <a:r>
              <a:rPr lang="en-US" sz="1000" dirty="0">
                <a:hlinkClick r:id="rId2"/>
              </a:rPr>
              <a:t>https://web.mit.edu/Saltzer/www/publications/Kerberosorigin.pdf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hlinkClick r:id="rId3"/>
              </a:rPr>
              <a:t>https://learn.microsoft.com/en-us/windows-server/security/kerberos/kerberos-authentication-overview</a:t>
            </a:r>
            <a:br>
              <a:rPr lang="en-US" sz="1000" dirty="0"/>
            </a:br>
            <a:br>
              <a:rPr lang="en-US" sz="1000" dirty="0"/>
            </a:br>
            <a:r>
              <a:rPr lang="en-US" sz="1000" dirty="0">
                <a:hlinkClick r:id="rId4"/>
              </a:rPr>
              <a:t>https://www.geeksforgeeks.org/computer-networks/difference-between-kerberos-and-ntlm/</a:t>
            </a:r>
            <a:br>
              <a:rPr lang="en-US" sz="1000" dirty="0"/>
            </a:br>
            <a:br>
              <a:rPr lang="en-US" sz="1000" dirty="0"/>
            </a:br>
            <a:r>
              <a:rPr lang="en-US" sz="1000" dirty="0">
                <a:hlinkClick r:id="rId5"/>
              </a:rPr>
              <a:t>https://web.mit.edu/Kerberos/#what_is</a:t>
            </a:r>
            <a:endParaRPr lang="en-US" sz="1000" dirty="0"/>
          </a:p>
          <a:p>
            <a:endParaRPr lang="en-US" sz="1000" dirty="0"/>
          </a:p>
        </p:txBody>
      </p:sp>
      <p:pic>
        <p:nvPicPr>
          <p:cNvPr id="2052" name="Picture 4" descr="JPEG of Kerberos">
            <a:extLst>
              <a:ext uri="{FF2B5EF4-FFF2-40B4-BE49-F238E27FC236}">
                <a16:creationId xmlns:a16="http://schemas.microsoft.com/office/drawing/2014/main" id="{6036D100-3BCB-3522-03A9-B9D0C4650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05" b="7210"/>
          <a:stretch>
            <a:fillRect/>
          </a:stretch>
        </p:blipFill>
        <p:spPr bwMode="auto">
          <a:xfrm>
            <a:off x="7765809" y="3175305"/>
            <a:ext cx="2136250" cy="1889760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04C15-2892-678C-B7CF-3CB2EF450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5271" y="6429396"/>
            <a:ext cx="946264" cy="35131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FAB73BC-B049-4115-A692-8D63A059BFB8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346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AD7D5-8B58-D286-5701-8A7F1EC5B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Kerberos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34311-4EF0-3BBC-60AD-AFBDD6AD2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19" y="2011679"/>
            <a:ext cx="9784080" cy="468937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Ok so tickets…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br>
              <a:rPr lang="en-US" dirty="0">
                <a:hlinkClick r:id="rId2"/>
              </a:rPr>
            </a:br>
            <a:br>
              <a:rPr lang="en-US" dirty="0">
                <a:hlinkClick r:id="rId2"/>
              </a:rPr>
            </a:br>
            <a:r>
              <a:rPr lang="en-US" dirty="0">
                <a:hlinkClick r:id="rId2"/>
              </a:rPr>
              <a:t>https://www.freecodecamp.org/news/how-does-kerberos-work-authentication-protocol/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D25894-A5E0-0D80-C08E-38AC72024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4</a:t>
            </a:fld>
            <a:endParaRPr lang="en-US"/>
          </a:p>
        </p:txBody>
      </p:sp>
      <p:pic>
        <p:nvPicPr>
          <p:cNvPr id="3074" name="Picture 2" descr="Image">
            <a:extLst>
              <a:ext uri="{FF2B5EF4-FFF2-40B4-BE49-F238E27FC236}">
                <a16:creationId xmlns:a16="http://schemas.microsoft.com/office/drawing/2014/main" id="{0FE451C2-0B2E-C56E-BDBA-1E709961A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0625" y="2413819"/>
            <a:ext cx="7208667" cy="3682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7329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D170C-8C98-5D2E-C942-A50CD1FAA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 anchor="ctr">
            <a:normAutofit/>
          </a:bodyPr>
          <a:lstStyle/>
          <a:p>
            <a:r>
              <a:rPr lang="en-US" dirty="0"/>
              <a:t>What tools do we use?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C9F7E-9FE5-8862-AD63-C5C23363CB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>
            <a:normAutofit/>
          </a:bodyPr>
          <a:lstStyle/>
          <a:p>
            <a:r>
              <a:rPr lang="en-US" dirty="0"/>
              <a:t>Rubeus - </a:t>
            </a:r>
            <a:r>
              <a:rPr lang="en-US" dirty="0">
                <a:hlinkClick r:id="rId2"/>
              </a:rPr>
              <a:t>https://github.com/GhostPack/Rubeus</a:t>
            </a:r>
            <a:endParaRPr lang="en-US" dirty="0"/>
          </a:p>
          <a:p>
            <a:r>
              <a:rPr lang="en-US" dirty="0" err="1"/>
              <a:t>Mimikatz</a:t>
            </a:r>
            <a:r>
              <a:rPr lang="en-US" dirty="0"/>
              <a:t> - </a:t>
            </a:r>
            <a:r>
              <a:rPr lang="en-US" dirty="0">
                <a:hlinkClick r:id="rId3"/>
              </a:rPr>
              <a:t>https://github.com/ParrotSec/mimikatz</a:t>
            </a:r>
            <a:endParaRPr lang="en-US" dirty="0"/>
          </a:p>
          <a:p>
            <a:r>
              <a:rPr lang="en-US" dirty="0"/>
              <a:t>Others…</a:t>
            </a:r>
          </a:p>
        </p:txBody>
      </p:sp>
      <p:pic>
        <p:nvPicPr>
          <p:cNvPr id="6" name="Picture 5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D6EC8F4B-DAAA-D703-8C0F-20C20A220D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0391" y="3234882"/>
            <a:ext cx="4754880" cy="1759836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BAD5E-A42A-6030-5D2C-4101C6580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5271" y="6429396"/>
            <a:ext cx="946264" cy="35131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FAB73BC-B049-4115-A692-8D63A059BFB8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172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69799-72EC-6B96-A7E0-1831682FA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GAINING ACCESS W/ TICKETS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401A0-D58E-4CB9-3302-62AC343AA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4CAD5A-249F-1942-0450-6628627A5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295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0E9F8-4475-CBA8-6CE2-246B87673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now?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B2E4F-1FDA-9F5B-6087-AD595692E7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19" y="2011679"/>
            <a:ext cx="9784080" cy="4736123"/>
          </a:xfrm>
        </p:spPr>
        <p:txBody>
          <a:bodyPr>
            <a:normAutofit/>
          </a:bodyPr>
          <a:lstStyle/>
          <a:p>
            <a:r>
              <a:rPr lang="en-US" dirty="0"/>
              <a:t>Passwords change; hashes change…so what are our options?</a:t>
            </a:r>
          </a:p>
          <a:p>
            <a:r>
              <a:rPr lang="en-US" dirty="0"/>
              <a:t>Public Keys!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1400" dirty="0">
                <a:hlinkClick r:id="rId2"/>
              </a:rPr>
              <a:t>https://specterops.io/blog/2021/06/17/shadow-credentials-abusing-key-trust-account-mapping-for-account-takeover/</a:t>
            </a:r>
            <a:endParaRPr lang="en-US" sz="14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326D03-BF3F-5913-D029-390147C84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7</a:t>
            </a:fld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6C8551C-079F-B683-9435-3B27B487D0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594" y="3131439"/>
            <a:ext cx="3183988" cy="3124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3BD68C1C-9ED8-8D8E-0132-8F09DD846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8944" y="3131439"/>
            <a:ext cx="3668889" cy="3124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4940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8E64C-44CD-48D3-D5DE-6533C6A73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52FE6-A5B8-006A-4A89-1938A1768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 anchor="ctr">
            <a:normAutofit/>
          </a:bodyPr>
          <a:lstStyle/>
          <a:p>
            <a:r>
              <a:rPr lang="en-US" dirty="0"/>
              <a:t>What tools do we use?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91862-C983-9F6A-CA3E-6A94601966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>
            <a:normAutofit/>
          </a:bodyPr>
          <a:lstStyle/>
          <a:p>
            <a:r>
              <a:rPr lang="en-US" dirty="0"/>
              <a:t>Whisker - </a:t>
            </a:r>
            <a:r>
              <a:rPr lang="en-US" dirty="0">
                <a:hlinkClick r:id="rId2"/>
              </a:rPr>
              <a:t>https://github.com/eladshamir/Whisker</a:t>
            </a:r>
            <a:endParaRPr lang="en-US" dirty="0"/>
          </a:p>
          <a:p>
            <a:r>
              <a:rPr lang="en-US" dirty="0" err="1"/>
              <a:t>pyWhisker</a:t>
            </a:r>
            <a:r>
              <a:rPr lang="en-US" dirty="0"/>
              <a:t> – </a:t>
            </a:r>
            <a:br>
              <a:rPr lang="en-US" dirty="0"/>
            </a:br>
            <a:r>
              <a:rPr lang="en-US" dirty="0">
                <a:hlinkClick r:id="rId3"/>
              </a:rPr>
              <a:t>https://github.com/ShutdownRepo/pywhisker</a:t>
            </a:r>
            <a:endParaRPr lang="en-US" dirty="0"/>
          </a:p>
        </p:txBody>
      </p:sp>
      <p:pic>
        <p:nvPicPr>
          <p:cNvPr id="6" name="Picture 5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70C4BBE1-ADF4-EF6D-CF08-098484CB78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0391" y="3234882"/>
            <a:ext cx="4754880" cy="1759836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9DC07-3426-5613-3144-414FFA3D9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5271" y="6429396"/>
            <a:ext cx="946264" cy="35131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FAB73BC-B049-4115-A692-8D63A059BFB8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987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55850-7B10-992A-6BFE-574F6AF45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certificates for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5D52B-9B84-5130-D464-DC98950B7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C9FB2-D2A4-0673-F03C-D1413C6D2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463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Custom 1">
      <a:dk1>
        <a:srgbClr val="2C2C2C"/>
      </a:dk1>
      <a:lt1>
        <a:srgbClr val="2C2C2C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SC134 Presentation Template.potx" id="{A66BB812-A12B-48F7-878C-03775D0BBB26}" vid="{4F605606-308F-430C-B250-FBB8D17D0A7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D09E02CC1F1C942AE7AE46D03AA639A" ma:contentTypeVersion="18" ma:contentTypeDescription="Create a new document." ma:contentTypeScope="" ma:versionID="1c7fa6b76429a16c623e589a4b13a091">
  <xsd:schema xmlns:xsd="http://www.w3.org/2001/XMLSchema" xmlns:xs="http://www.w3.org/2001/XMLSchema" xmlns:p="http://schemas.microsoft.com/office/2006/metadata/properties" xmlns:ns3="a8513b27-c432-4df5-b74b-e1b532a9d956" xmlns:ns4="af070b4f-c4cb-48b0-9da9-7a2785829e84" targetNamespace="http://schemas.microsoft.com/office/2006/metadata/properties" ma:root="true" ma:fieldsID="12bde938416cca019434b98576520037" ns3:_="" ns4:_="">
    <xsd:import namespace="a8513b27-c432-4df5-b74b-e1b532a9d956"/>
    <xsd:import namespace="af070b4f-c4cb-48b0-9da9-7a2785829e8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513b27-c432-4df5-b74b-e1b532a9d9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070b4f-c4cb-48b0-9da9-7a2785829e8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8513b27-c432-4df5-b74b-e1b532a9d956" xsi:nil="true"/>
  </documentManagement>
</p:properties>
</file>

<file path=customXml/itemProps1.xml><?xml version="1.0" encoding="utf-8"?>
<ds:datastoreItem xmlns:ds="http://schemas.openxmlformats.org/officeDocument/2006/customXml" ds:itemID="{1C3EBC37-ACE3-434A-8147-BB114EB6EE6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8513b27-c432-4df5-b74b-e1b532a9d956"/>
    <ds:schemaRef ds:uri="af070b4f-c4cb-48b0-9da9-7a2785829e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D135250-A721-4772-BA5D-E4DD3D20EF5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F3A4382-BF9B-4E36-98DC-11A1F574851C}">
  <ds:schemaRefs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af070b4f-c4cb-48b0-9da9-7a2785829e84"/>
    <ds:schemaRef ds:uri="a8513b27-c432-4df5-b74b-e1b532a9d956"/>
    <ds:schemaRef ds:uri="http://purl.org/dc/terms/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CSC134 Presentation Template</Template>
  <TotalTime>149</TotalTime>
  <Words>270</Words>
  <Application>Microsoft Office PowerPoint</Application>
  <PresentationFormat>Widescreen</PresentationFormat>
  <Paragraphs>61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Corbel</vt:lpstr>
      <vt:lpstr>Wingdings</vt:lpstr>
      <vt:lpstr>Banded</vt:lpstr>
      <vt:lpstr>Kerberos &amp; certificates</vt:lpstr>
      <vt:lpstr>Big ideas</vt:lpstr>
      <vt:lpstr>What is Kerberos?</vt:lpstr>
      <vt:lpstr>How does Kerberos work?</vt:lpstr>
      <vt:lpstr>What tools do we use?</vt:lpstr>
      <vt:lpstr>GAINING ACCESS W/ TICKETS</vt:lpstr>
      <vt:lpstr>What now?</vt:lpstr>
      <vt:lpstr>What tools do we use?</vt:lpstr>
      <vt:lpstr>Using certificates for access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Ord, Nathan</dc:creator>
  <cp:lastModifiedBy>Ord, Nathan</cp:lastModifiedBy>
  <cp:revision>2</cp:revision>
  <dcterms:created xsi:type="dcterms:W3CDTF">2025-12-17T00:41:54Z</dcterms:created>
  <dcterms:modified xsi:type="dcterms:W3CDTF">2025-12-17T03:11:02Z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0x0101007D09E02CC1F1C942AE7AE46D03AA639A</vt:lpwstr>
  </property>
</Properties>
</file>